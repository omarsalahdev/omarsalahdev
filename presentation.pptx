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</p:sldIdLst>
  <p:sldSz cx="11887200" cy="6858000"/>
  <p:notesSz cx="6858000" cy="9144000"/>
  <p:embeddedFontLst>
    <p:embeddedFont>
      <p:font typeface="DM Sans Bold" panose="020B0604020202020204" charset="0"/>
      <p:regular r:id="rId19"/>
    </p:embeddedFont>
    <p:embeddedFont>
      <p:font typeface="DM Serif Display" pitchFamily="2" charset="0"/>
      <p:regular r:id="rId20"/>
    </p:embeddedFont>
    <p:embeddedFont>
      <p:font typeface="Montserrat Bold" panose="020B0604020202020204" charset="0"/>
      <p:regular r:id="rId21"/>
    </p:embeddedFont>
    <p:embeddedFont>
      <p:font typeface="Playfair Display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06" y="9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hd gamal ibrahim abdel azem" userId="1fd62cac-e2c7-41f0-bee1-df1892359e13" providerId="ADAL" clId="{910C9050-D471-D241-85BF-6E5A13C21342}"/>
    <pc:docChg chg="custSel delSld modSld">
      <pc:chgData name="fahd gamal ibrahim abdel azem" userId="1fd62cac-e2c7-41f0-bee1-df1892359e13" providerId="ADAL" clId="{910C9050-D471-D241-85BF-6E5A13C21342}" dt="2025-05-04T18:03:52.222" v="2" actId="2696"/>
      <pc:docMkLst>
        <pc:docMk/>
      </pc:docMkLst>
      <pc:sldChg chg="addSp delSp del">
        <pc:chgData name="fahd gamal ibrahim abdel azem" userId="1fd62cac-e2c7-41f0-bee1-df1892359e13" providerId="ADAL" clId="{910C9050-D471-D241-85BF-6E5A13C21342}" dt="2025-05-04T18:03:52.222" v="2" actId="2696"/>
        <pc:sldMkLst>
          <pc:docMk/>
          <pc:sldMk cId="2468697038" sldId="276"/>
        </pc:sldMkLst>
        <pc:spChg chg="del">
          <ac:chgData name="fahd gamal ibrahim abdel azem" userId="1fd62cac-e2c7-41f0-bee1-df1892359e13" providerId="ADAL" clId="{910C9050-D471-D241-85BF-6E5A13C21342}" dt="2025-05-04T18:00:46.994" v="0" actId="21"/>
          <ac:spMkLst>
            <pc:docMk/>
            <pc:sldMk cId="2468697038" sldId="276"/>
            <ac:spMk id="2" creationId="{70E0871F-72DC-5ABD-411C-67627D7E0AF8}"/>
          </ac:spMkLst>
        </pc:spChg>
        <pc:spChg chg="add">
          <ac:chgData name="fahd gamal ibrahim abdel azem" userId="1fd62cac-e2c7-41f0-bee1-df1892359e13" providerId="ADAL" clId="{910C9050-D471-D241-85BF-6E5A13C21342}" dt="2025-05-04T18:01:21.622" v="1" actId="22"/>
          <ac:spMkLst>
            <pc:docMk/>
            <pc:sldMk cId="2468697038" sldId="276"/>
            <ac:spMk id="4" creationId="{1CC4CEAA-5021-2033-2DF9-4CDDC3C9303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png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87940" y="-1573587"/>
            <a:ext cx="4975870" cy="3147174"/>
          </a:xfrm>
          <a:custGeom>
            <a:avLst/>
            <a:gdLst/>
            <a:ahLst/>
            <a:cxnLst/>
            <a:rect l="l" t="t" r="r" b="b"/>
            <a:pathLst>
              <a:path w="4975870" h="3147174">
                <a:moveTo>
                  <a:pt x="0" y="0"/>
                </a:moveTo>
                <a:lnTo>
                  <a:pt x="4975870" y="0"/>
                </a:lnTo>
                <a:lnTo>
                  <a:pt x="4975870" y="3147174"/>
                </a:lnTo>
                <a:lnTo>
                  <a:pt x="0" y="3147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124200" y="2286000"/>
            <a:ext cx="4876800" cy="4976486"/>
          </a:xfrm>
          <a:custGeom>
            <a:avLst/>
            <a:gdLst/>
            <a:ahLst/>
            <a:cxnLst/>
            <a:rect l="l" t="t" r="r" b="b"/>
            <a:pathLst>
              <a:path w="4237972" h="4237972">
                <a:moveTo>
                  <a:pt x="0" y="0"/>
                </a:moveTo>
                <a:lnTo>
                  <a:pt x="4237972" y="0"/>
                </a:lnTo>
                <a:lnTo>
                  <a:pt x="4237972" y="4237972"/>
                </a:lnTo>
                <a:lnTo>
                  <a:pt x="0" y="4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11265" y="236628"/>
            <a:ext cx="8781726" cy="1111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spc="-16" dirty="0">
                <a:solidFill>
                  <a:srgbClr val="3333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 Performance Prediction using </a:t>
            </a:r>
            <a:r>
              <a:rPr lang="en-US" sz="3200" b="1" spc="-16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Machine Learning </a:t>
            </a:r>
            <a:r>
              <a:rPr lang="en-US" sz="3200" b="1" spc="-7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</a:t>
            </a:r>
            <a:endParaRPr lang="en-US" sz="3200" b="1" spc="-16" dirty="0">
              <a:solidFill>
                <a:schemeClr val="tx2">
                  <a:lumMod val="60000"/>
                  <a:lumOff val="40000"/>
                </a:schemeClr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3000" y="1836653"/>
            <a:ext cx="7924800" cy="938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machine learning project that predicts students</a:t>
            </a:r>
          </a:p>
          <a:p>
            <a:pPr>
              <a:lnSpc>
                <a:spcPts val="2520"/>
              </a:lnSpc>
            </a:pP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final grades based on academic and personal factors such as study time, absences, and previous performance.</a:t>
            </a:r>
            <a:endParaRPr lang="en-US" sz="1800" b="1" spc="-9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8915400" y="5143500"/>
            <a:ext cx="5943600" cy="3429000"/>
            <a:chOff x="0" y="0"/>
            <a:chExt cx="5943600" cy="3429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71800" cy="1714500"/>
            </a:xfrm>
            <a:custGeom>
              <a:avLst/>
              <a:gdLst/>
              <a:ahLst/>
              <a:cxnLst/>
              <a:rect l="l" t="t" r="r" b="b"/>
              <a:pathLst>
                <a:path w="2971800" h="1714500">
                  <a:moveTo>
                    <a:pt x="0" y="0"/>
                  </a:moveTo>
                  <a:lnTo>
                    <a:pt x="0" y="1714500"/>
                  </a:lnTo>
                  <a:lnTo>
                    <a:pt x="2971800" y="171450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69B4">
                <a:alpha val="1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83080" y="5143500"/>
            <a:ext cx="3566160" cy="3429000"/>
          </a:xfrm>
          <a:custGeom>
            <a:avLst/>
            <a:gdLst/>
            <a:ahLst/>
            <a:cxnLst/>
            <a:rect l="l" t="t" r="r" b="b"/>
            <a:pathLst>
              <a:path w="3566160" h="3429000">
                <a:moveTo>
                  <a:pt x="0" y="0"/>
                </a:moveTo>
                <a:lnTo>
                  <a:pt x="3566160" y="0"/>
                </a:lnTo>
                <a:lnTo>
                  <a:pt x="356616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866376" y="-2057400"/>
            <a:ext cx="4160520" cy="4114800"/>
          </a:xfrm>
          <a:custGeom>
            <a:avLst/>
            <a:gdLst/>
            <a:ahLst/>
            <a:cxnLst/>
            <a:rect l="l" t="t" r="r" b="b"/>
            <a:pathLst>
              <a:path w="4160520" h="4114800">
                <a:moveTo>
                  <a:pt x="0" y="0"/>
                </a:moveTo>
                <a:lnTo>
                  <a:pt x="4160520" y="0"/>
                </a:lnTo>
                <a:lnTo>
                  <a:pt x="41605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94360" y="1038254"/>
            <a:ext cx="3575618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3">
                <a:solidFill>
                  <a:srgbClr val="030B5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Table of 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4360" y="2081346"/>
            <a:ext cx="162287" cy="500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b="1" spc="-9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4360" y="2850204"/>
            <a:ext cx="162287" cy="500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b="1" spc="-9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4102170"/>
            <a:ext cx="162287" cy="310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9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42360" y="2081346"/>
            <a:ext cx="162287" cy="500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b="1" spc="-9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42360" y="2850204"/>
            <a:ext cx="162287" cy="500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b="1" spc="-9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90360" y="4247607"/>
            <a:ext cx="16228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9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90360" y="2081346"/>
            <a:ext cx="162287" cy="500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b="1" spc="-9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90360" y="2850204"/>
            <a:ext cx="162287" cy="500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b="1" spc="-9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7718" y="3074415"/>
            <a:ext cx="1800608" cy="45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sz="1329" b="1" spc="-6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&amp; Features</a:t>
            </a:r>
          </a:p>
          <a:p>
            <a:pPr algn="l">
              <a:lnSpc>
                <a:spcPts val="1861"/>
              </a:lnSpc>
            </a:pPr>
            <a:endParaRPr lang="en-US" sz="1329" b="1" spc="-6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67718" y="2262540"/>
            <a:ext cx="1302591" cy="25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440" b="1" spc="-7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7718" y="4092864"/>
            <a:ext cx="1688354" cy="23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439" b="1" spc="-7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Training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66947" y="4091721"/>
            <a:ext cx="1171832" cy="74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439" b="1" spc="-7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 &amp; Evaluation</a:t>
            </a:r>
          </a:p>
          <a:p>
            <a:pPr algn="l">
              <a:lnSpc>
                <a:spcPts val="2016"/>
              </a:lnSpc>
            </a:pPr>
            <a:endParaRPr lang="en-US" sz="1439" b="1" spc="-7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915718" y="3002823"/>
            <a:ext cx="1472717" cy="85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439" b="1" spc="-7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Preprocessing</a:t>
            </a:r>
          </a:p>
          <a:p>
            <a:pPr algn="l">
              <a:lnSpc>
                <a:spcPts val="2304"/>
              </a:lnSpc>
            </a:pPr>
            <a:endParaRPr lang="en-US" sz="1439" b="1" spc="-7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915718" y="2262540"/>
            <a:ext cx="1583703" cy="25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440" b="1" spc="-7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Members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63718" y="3002823"/>
            <a:ext cx="1593028" cy="56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440" b="1" spc="-7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(EDA)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63718" y="2262540"/>
            <a:ext cx="2015909" cy="249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440" b="1" spc="-7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Description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04647" y="4111476"/>
            <a:ext cx="16228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9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78005" y="4102170"/>
            <a:ext cx="1171832" cy="74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439" b="1" spc="-7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ML Models Used</a:t>
            </a:r>
          </a:p>
          <a:p>
            <a:pPr algn="l">
              <a:lnSpc>
                <a:spcPts val="2016"/>
              </a:lnSpc>
            </a:pPr>
            <a:endParaRPr lang="en-US" sz="1439" b="1" spc="-7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33098" y="5245418"/>
            <a:ext cx="1171832" cy="265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55"/>
              </a:lnSpc>
            </a:pPr>
            <a:r>
              <a:rPr lang="en-US" sz="1539" b="1" spc="-7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4360" y="5224907"/>
            <a:ext cx="27335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9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42360" y="4995545"/>
            <a:ext cx="24343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9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66934" y="4971767"/>
            <a:ext cx="1334119" cy="74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439" b="1" spc="-7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&amp; Future Work</a:t>
            </a:r>
          </a:p>
          <a:p>
            <a:pPr algn="l">
              <a:lnSpc>
                <a:spcPts val="2015"/>
              </a:lnSpc>
            </a:pPr>
            <a:endParaRPr lang="en-US" sz="1439" b="1" spc="-7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aphicFrame>
        <p:nvGraphicFramePr>
          <p:cNvPr id="27" name="Object 27"/>
          <p:cNvGraphicFramePr/>
          <p:nvPr/>
        </p:nvGraphicFramePr>
        <p:xfrm>
          <a:off x="0" y="0"/>
          <a:ext cx="2514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009900" imgH="914400" progId="Excel.Sheet.12">
                  <p:embed/>
                </p:oleObj>
              </mc:Choice>
              <mc:Fallback>
                <p:oleObj name="Worksheet" r:id="rId4" imgW="3009900" imgH="914400" progId="Excel.Sheet.12">
                  <p:embed/>
                  <p:pic>
                    <p:nvPicPr>
                      <p:cNvPr id="27" name="Object 2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514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8"/>
          <p:cNvGraphicFramePr/>
          <p:nvPr/>
        </p:nvGraphicFramePr>
        <p:xfrm>
          <a:off x="0" y="0"/>
          <a:ext cx="2514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009900" imgH="914400" progId="Excel.Sheet.12">
                  <p:embed/>
                </p:oleObj>
              </mc:Choice>
              <mc:Fallback>
                <p:oleObj name="Worksheet" r:id="rId6" imgW="3009900" imgH="914400" progId="Excel.Sheet.12">
                  <p:embed/>
                  <p:pic>
                    <p:nvPicPr>
                      <p:cNvPr id="28" name="Object 2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514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9"/>
          <p:cNvSpPr txBox="1"/>
          <p:nvPr/>
        </p:nvSpPr>
        <p:spPr>
          <a:xfrm>
            <a:off x="6690360" y="4901536"/>
            <a:ext cx="24343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9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00465" y="4900486"/>
            <a:ext cx="1334119" cy="496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439" b="1" spc="-7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  <a:p>
            <a:pPr algn="l">
              <a:lnSpc>
                <a:spcPts val="2015"/>
              </a:lnSpc>
            </a:pPr>
            <a:endParaRPr lang="en-US" sz="1439" b="1" spc="-7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87940" y="-1573587"/>
            <a:ext cx="4975870" cy="3147174"/>
          </a:xfrm>
          <a:custGeom>
            <a:avLst/>
            <a:gdLst/>
            <a:ahLst/>
            <a:cxnLst/>
            <a:rect l="l" t="t" r="r" b="b"/>
            <a:pathLst>
              <a:path w="4975870" h="3147174">
                <a:moveTo>
                  <a:pt x="0" y="0"/>
                </a:moveTo>
                <a:lnTo>
                  <a:pt x="4975870" y="0"/>
                </a:lnTo>
                <a:lnTo>
                  <a:pt x="4975870" y="3147174"/>
                </a:lnTo>
                <a:lnTo>
                  <a:pt x="0" y="3147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582315" y="-116397"/>
            <a:ext cx="4471918" cy="128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3"/>
              </a:lnSpc>
            </a:pPr>
            <a:r>
              <a:rPr lang="en-US" sz="3656" u="sng" spc="-18">
                <a:solidFill>
                  <a:srgbClr val="030B5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Introduction</a:t>
            </a:r>
          </a:p>
          <a:p>
            <a:pPr algn="l">
              <a:lnSpc>
                <a:spcPts val="1749"/>
              </a:lnSpc>
            </a:pPr>
            <a:endParaRPr lang="en-US" sz="3656" u="sng" spc="-18">
              <a:solidFill>
                <a:srgbClr val="030B5C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9749251" y="5624568"/>
            <a:ext cx="4275899" cy="2466865"/>
            <a:chOff x="0" y="0"/>
            <a:chExt cx="5943600" cy="3429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71800" cy="1714500"/>
            </a:xfrm>
            <a:custGeom>
              <a:avLst/>
              <a:gdLst/>
              <a:ahLst/>
              <a:cxnLst/>
              <a:rect l="l" t="t" r="r" b="b"/>
              <a:pathLst>
                <a:path w="2971800" h="1714500">
                  <a:moveTo>
                    <a:pt x="0" y="0"/>
                  </a:moveTo>
                  <a:lnTo>
                    <a:pt x="0" y="1714500"/>
                  </a:lnTo>
                  <a:lnTo>
                    <a:pt x="2971800" y="171450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69B4">
                <a:alpha val="1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0" y="1440631"/>
            <a:ext cx="11887200" cy="93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2520"/>
              </a:lnSpc>
              <a:buFont typeface="Arial"/>
              <a:buChar char="•"/>
            </a:pPr>
            <a:r>
              <a:rPr lang="en-US" sz="1800" b="1" spc="-9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Predicting </a:t>
            </a:r>
            <a:r>
              <a:rPr lang="en-US" b="1" spc="-9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 performance is an important task in education because students’ final grades are influenced by many academic and personal factors such as study time, attendance, and previous exam scores.</a:t>
            </a:r>
            <a:endParaRPr lang="en-US" sz="1800" b="1" spc="-9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0" y="3224609"/>
            <a:ext cx="11887200" cy="618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 indent="-194310">
              <a:lnSpc>
                <a:spcPts val="2520"/>
              </a:lnSpc>
              <a:buFont typeface="Arial"/>
              <a:buChar char="•"/>
            </a:pPr>
            <a:r>
              <a:rPr lang="en-US" b="1" spc="-9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this project, we apply </a:t>
            </a:r>
            <a:r>
              <a:rPr lang="en-US" sz="1800" b="1" spc="-9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Machine Learning techniques</a:t>
            </a:r>
            <a:r>
              <a:rPr lang="en-US" sz="1800" b="1" spc="-9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build a model that predicts students’ final grades based on real student data.</a:t>
            </a:r>
            <a:endParaRPr lang="en-US" sz="1800" b="1" spc="-9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2400" y="4857266"/>
            <a:ext cx="11582400" cy="618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 indent="-194310">
              <a:lnSpc>
                <a:spcPts val="2520"/>
              </a:lnSpc>
              <a:buFont typeface="Arial"/>
              <a:buChar char="•"/>
            </a:pPr>
            <a:r>
              <a:rPr lang="en-US" b="1" spc="-9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goal of this project is to better understand the factors that affect student success and to estimate final performance in a simple and data-driven way</a:t>
            </a:r>
            <a:endParaRPr lang="en-US" sz="1800" b="1" spc="-9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47650" y="268677"/>
            <a:ext cx="834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83080" y="5143500"/>
            <a:ext cx="3566160" cy="3429000"/>
          </a:xfrm>
          <a:custGeom>
            <a:avLst/>
            <a:gdLst/>
            <a:ahLst/>
            <a:cxnLst/>
            <a:rect l="l" t="t" r="r" b="b"/>
            <a:pathLst>
              <a:path w="3566160" h="3429000">
                <a:moveTo>
                  <a:pt x="0" y="0"/>
                </a:moveTo>
                <a:lnTo>
                  <a:pt x="3566160" y="0"/>
                </a:lnTo>
                <a:lnTo>
                  <a:pt x="356616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866376" y="-2057400"/>
            <a:ext cx="4160520" cy="4114800"/>
          </a:xfrm>
          <a:custGeom>
            <a:avLst/>
            <a:gdLst/>
            <a:ahLst/>
            <a:cxnLst/>
            <a:rect l="l" t="t" r="r" b="b"/>
            <a:pathLst>
              <a:path w="4160520" h="4114800">
                <a:moveTo>
                  <a:pt x="0" y="0"/>
                </a:moveTo>
                <a:lnTo>
                  <a:pt x="4160520" y="0"/>
                </a:lnTo>
                <a:lnTo>
                  <a:pt x="41605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28600" y="-284664"/>
            <a:ext cx="3962400" cy="2113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961"/>
              </a:lnSpc>
            </a:pPr>
            <a:r>
              <a:rPr lang="en-US" sz="2799" spc="-13" dirty="0">
                <a:solidFill>
                  <a:srgbClr val="030B5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</a:t>
            </a:r>
          </a:p>
          <a:p>
            <a:pPr algn="just">
              <a:lnSpc>
                <a:spcPts val="7664"/>
              </a:lnSpc>
            </a:pPr>
            <a:r>
              <a:rPr lang="en-US" sz="3600" u="sng" spc="-18" dirty="0">
                <a:solidFill>
                  <a:srgbClr val="030B5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Team Members</a:t>
            </a:r>
          </a:p>
          <a:p>
            <a:pPr algn="just">
              <a:lnSpc>
                <a:spcPts val="2304"/>
              </a:lnSpc>
            </a:pPr>
            <a:endParaRPr lang="en-US" sz="3600" u="sng" spc="-18" dirty="0">
              <a:solidFill>
                <a:srgbClr val="030B5C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14400" y="1828800"/>
            <a:ext cx="6206565" cy="3824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2520"/>
              </a:lnSpc>
              <a:spcBef>
                <a:spcPct val="0"/>
              </a:spcBef>
              <a:buAutoNum type="arabicParenR"/>
            </a:pPr>
            <a:r>
              <a:rPr lang="nn-NO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Omar Saleh Abdel-Zaher Mohamed (2401601)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sz="1800" b="1" spc="-9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2)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yousef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zaker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allah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elsaid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abd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eltwaib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(2400398 )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b="1" spc="-9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3)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osama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mohamed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ahmed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abd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elhafize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(2402271)</a:t>
            </a:r>
            <a:endParaRPr lang="en-US" sz="1800" b="1" spc="-9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b="1" spc="-9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4)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ahmed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essam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hamdy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mohamed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(2401636)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b="1" spc="-9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5)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abdullah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nasser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ramadan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abdulhai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(2401605)</a:t>
            </a:r>
            <a:endParaRPr lang="en-US" sz="1800" b="1" spc="-9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sz="1800" b="1" spc="-9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6)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abdalrahman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ahmed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sayed</a:t>
            </a:r>
            <a:r>
              <a:rPr lang="en-US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(2401811)</a:t>
            </a:r>
            <a:endParaRPr lang="en-US" sz="1800" b="1" spc="-9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sz="1800" b="1" spc="-9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87940" y="-1573587"/>
            <a:ext cx="4975870" cy="3147174"/>
          </a:xfrm>
          <a:custGeom>
            <a:avLst/>
            <a:gdLst/>
            <a:ahLst/>
            <a:cxnLst/>
            <a:rect l="l" t="t" r="r" b="b"/>
            <a:pathLst>
              <a:path w="4975870" h="3147174">
                <a:moveTo>
                  <a:pt x="0" y="0"/>
                </a:moveTo>
                <a:lnTo>
                  <a:pt x="4975870" y="0"/>
                </a:lnTo>
                <a:lnTo>
                  <a:pt x="4975870" y="3147174"/>
                </a:lnTo>
                <a:lnTo>
                  <a:pt x="0" y="3147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143054" y="5499723"/>
            <a:ext cx="5943600" cy="3429000"/>
            <a:chOff x="0" y="0"/>
            <a:chExt cx="5943600" cy="3429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71800" cy="1714500"/>
            </a:xfrm>
            <a:custGeom>
              <a:avLst/>
              <a:gdLst/>
              <a:ahLst/>
              <a:cxnLst/>
              <a:rect l="l" t="t" r="r" b="b"/>
              <a:pathLst>
                <a:path w="2971800" h="1714500">
                  <a:moveTo>
                    <a:pt x="0" y="0"/>
                  </a:moveTo>
                  <a:lnTo>
                    <a:pt x="0" y="1714500"/>
                  </a:lnTo>
                  <a:lnTo>
                    <a:pt x="2971800" y="171450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69B4">
                <a:alpha val="1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83715" y="-534588"/>
            <a:ext cx="4997681" cy="210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endParaRPr/>
          </a:p>
          <a:p>
            <a:pPr algn="ctr">
              <a:lnSpc>
                <a:spcPts val="7792"/>
              </a:lnSpc>
            </a:pPr>
            <a:r>
              <a:rPr lang="en-US" sz="3659" u="sng" spc="-18">
                <a:solidFill>
                  <a:srgbClr val="030B5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 Description</a:t>
            </a:r>
          </a:p>
          <a:p>
            <a:pPr algn="ctr">
              <a:lnSpc>
                <a:spcPts val="5855"/>
              </a:lnSpc>
            </a:pPr>
            <a:endParaRPr lang="en-US" sz="3659" u="sng" spc="-18">
              <a:solidFill>
                <a:srgbClr val="030B5C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5" y="1730998"/>
            <a:ext cx="11353805" cy="1313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endParaRPr dirty="0"/>
          </a:p>
          <a:p>
            <a:pPr marL="539746" lvl="1" indent="-269873" algn="just">
              <a:lnSpc>
                <a:spcPts val="3499"/>
              </a:lnSpc>
              <a:buFont typeface="Arial"/>
              <a:buChar char="•"/>
            </a:pPr>
            <a:r>
              <a:rPr lang="en-US" sz="2499" b="1" spc="-12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</a:t>
            </a:r>
            <a:r>
              <a:rPr lang="en-US" sz="2499" b="1" spc="-12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</a:t>
            </a:r>
            <a:r>
              <a:rPr lang="en-US" sz="2499" b="1" spc="-12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contains 395 student records with 33 features related to academic and personal information.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1108" y="369570"/>
            <a:ext cx="201662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1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7950" y="1525962"/>
            <a:ext cx="1897112" cy="438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7"/>
              </a:lnSpc>
              <a:spcBef>
                <a:spcPct val="0"/>
              </a:spcBef>
            </a:pPr>
            <a:r>
              <a:rPr lang="en-US" sz="2605" b="1" spc="-1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605" b="1" u="sng" spc="-13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Overview</a:t>
            </a:r>
            <a:r>
              <a:rPr lang="en-US" sz="2605" b="1" spc="-1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: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3420098"/>
            <a:ext cx="11887200" cy="3108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 b="1" spc="-12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Each record represents a student and includes variables such as study time, number of absences, previous grades, and other school-related factors. 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endParaRPr lang="en-US" sz="2499" b="1" spc="-12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 b="1" spc="-12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</a:t>
            </a:r>
            <a:r>
              <a:rPr lang="en-US" sz="2499" b="1" spc="-12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</a:t>
            </a:r>
            <a:r>
              <a:rPr lang="en-US" sz="2499" b="1" spc="-12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provides a clear view of the factors that may influence student performance, making it suitable for building a machine learning model to predict final grades (G3).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2080260" y="-2740077"/>
            <a:ext cx="4160520" cy="4114800"/>
          </a:xfrm>
          <a:custGeom>
            <a:avLst/>
            <a:gdLst/>
            <a:ahLst/>
            <a:cxnLst/>
            <a:rect l="l" t="t" r="r" b="b"/>
            <a:pathLst>
              <a:path w="4160520" h="4114800">
                <a:moveTo>
                  <a:pt x="0" y="0"/>
                </a:moveTo>
                <a:lnTo>
                  <a:pt x="4160520" y="0"/>
                </a:lnTo>
                <a:lnTo>
                  <a:pt x="41605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10148456" y="5186131"/>
            <a:ext cx="3477488" cy="3343738"/>
          </a:xfrm>
          <a:custGeom>
            <a:avLst/>
            <a:gdLst/>
            <a:ahLst/>
            <a:cxnLst/>
            <a:rect l="l" t="t" r="r" b="b"/>
            <a:pathLst>
              <a:path w="3477488" h="3343738">
                <a:moveTo>
                  <a:pt x="0" y="0"/>
                </a:moveTo>
                <a:lnTo>
                  <a:pt x="3477488" y="0"/>
                </a:lnTo>
                <a:lnTo>
                  <a:pt x="3477488" y="3343738"/>
                </a:lnTo>
                <a:lnTo>
                  <a:pt x="0" y="33437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476185" y="140503"/>
            <a:ext cx="493482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u="sng" spc="-18">
                <a:solidFill>
                  <a:srgbClr val="030B5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Dataset &amp; Features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1769" y="1340433"/>
            <a:ext cx="1941654" cy="497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1"/>
              </a:lnSpc>
              <a:spcBef>
                <a:spcPct val="0"/>
              </a:spcBef>
            </a:pPr>
            <a:r>
              <a:rPr lang="en-US" sz="2929" b="1" u="sng" spc="-14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</a:t>
            </a:r>
            <a:r>
              <a:rPr lang="en-US" sz="2929" b="1" spc="-14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929" b="1" spc="-1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769" y="2126513"/>
            <a:ext cx="11735431" cy="93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2520"/>
              </a:lnSpc>
              <a:buFont typeface="Arial"/>
              <a:buChar char="•"/>
            </a:pPr>
            <a:r>
              <a:rPr lang="en-US" b="1" spc="-9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</a:t>
            </a:r>
            <a:r>
              <a:rPr lang="en-US" b="1" spc="-9" dirty="0">
                <a:solidFill>
                  <a:srgbClr val="FFA5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</a:t>
            </a:r>
            <a:r>
              <a:rPr lang="en-US" b="1" spc="-9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contains 395 student records with 33 features related to academic performance and personal information. Each record represents a student and their school-related </a:t>
            </a:r>
            <a:r>
              <a:rPr lang="en-US" b="1" spc="-9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attributes.This</a:t>
            </a:r>
            <a:r>
              <a:rPr lang="en-US" b="1" spc="-9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dataset helps analyze the factors that influence student success and final exam performance.</a:t>
            </a:r>
            <a:endParaRPr lang="en-US" sz="1800" b="1" spc="-9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1769" y="3288395"/>
            <a:ext cx="3130657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u="sng" spc="-12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Selected Features</a:t>
            </a:r>
            <a:r>
              <a:rPr lang="en-US" sz="2499" b="1" spc="-1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769" y="3929745"/>
            <a:ext cx="9350539" cy="2231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5491" lvl="1" indent="-167746">
              <a:lnSpc>
                <a:spcPts val="2175"/>
              </a:lnSpc>
              <a:buFont typeface="Arial"/>
              <a:buChar char="•"/>
            </a:pPr>
            <a:r>
              <a:rPr lang="en-US" sz="1553" b="1" u="sng" spc="-7" dirty="0">
                <a:solidFill>
                  <a:srgbClr val="FFA5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G1</a:t>
            </a:r>
            <a:r>
              <a:rPr lang="en-US" sz="1553" b="1" spc="-7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: First period grade</a:t>
            </a:r>
          </a:p>
          <a:p>
            <a:pPr marL="335491" lvl="1" indent="-167746">
              <a:lnSpc>
                <a:spcPts val="2175"/>
              </a:lnSpc>
              <a:buFont typeface="Arial"/>
              <a:buChar char="•"/>
            </a:pPr>
            <a:r>
              <a:rPr lang="en-US" sz="1553" b="1" u="sng" spc="-7" dirty="0">
                <a:solidFill>
                  <a:srgbClr val="FFA5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G2</a:t>
            </a:r>
            <a:r>
              <a:rPr lang="en-US" sz="1553" b="1" spc="-7" dirty="0">
                <a:solidFill>
                  <a:srgbClr val="FFA5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1553" b="1" spc="-7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: Second period grade </a:t>
            </a:r>
          </a:p>
          <a:p>
            <a:pPr marL="335491" lvl="1" indent="-167746">
              <a:lnSpc>
                <a:spcPts val="2175"/>
              </a:lnSpc>
              <a:buFont typeface="Arial"/>
              <a:buChar char="•"/>
            </a:pPr>
            <a:r>
              <a:rPr lang="en-US" sz="1553" b="1" u="sng" spc="-7" dirty="0">
                <a:solidFill>
                  <a:srgbClr val="FFA5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study time</a:t>
            </a:r>
            <a:r>
              <a:rPr lang="en-US" sz="1553" b="1" spc="-7" dirty="0">
                <a:solidFill>
                  <a:srgbClr val="FFA5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1553" b="1" spc="-7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: Weekly study time</a:t>
            </a:r>
          </a:p>
          <a:p>
            <a:pPr marL="335491" lvl="1" indent="-167746">
              <a:lnSpc>
                <a:spcPts val="2175"/>
              </a:lnSpc>
              <a:buFont typeface="Arial"/>
              <a:buChar char="•"/>
            </a:pPr>
            <a:r>
              <a:rPr lang="en-US" sz="1553" b="1" u="sng" spc="-7" dirty="0">
                <a:solidFill>
                  <a:srgbClr val="FFA5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absences</a:t>
            </a:r>
            <a:r>
              <a:rPr lang="en-US" sz="1553" b="1" spc="-7" dirty="0">
                <a:solidFill>
                  <a:srgbClr val="FFA5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1553" b="1" spc="-7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: Number of school absences </a:t>
            </a:r>
          </a:p>
          <a:p>
            <a:pPr marL="335491" lvl="1" indent="-167746">
              <a:lnSpc>
                <a:spcPts val="2175"/>
              </a:lnSpc>
              <a:buFont typeface="Arial"/>
              <a:buChar char="•"/>
            </a:pPr>
            <a:r>
              <a:rPr lang="en-US" sz="1553" b="1" u="sng" spc="-7" dirty="0">
                <a:solidFill>
                  <a:srgbClr val="FFA5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failures</a:t>
            </a:r>
            <a:r>
              <a:rPr lang="en-US" sz="1553" b="1" spc="-7" dirty="0">
                <a:solidFill>
                  <a:srgbClr val="FFA5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1553" b="1" spc="-7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: Number of past class failures</a:t>
            </a:r>
          </a:p>
          <a:p>
            <a:pPr marL="335491" lvl="1" indent="-167746">
              <a:lnSpc>
                <a:spcPts val="2175"/>
              </a:lnSpc>
              <a:buFont typeface="Arial"/>
              <a:buChar char="•"/>
            </a:pPr>
            <a:r>
              <a:rPr lang="en-US" sz="1553" b="1" u="sng" spc="-7" dirty="0">
                <a:solidFill>
                  <a:srgbClr val="FFA5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school support </a:t>
            </a:r>
            <a:r>
              <a:rPr lang="en-US" sz="1553" b="1" spc="-7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: Educational support from school </a:t>
            </a:r>
          </a:p>
          <a:p>
            <a:pPr marL="335491" lvl="1" indent="-167746">
              <a:lnSpc>
                <a:spcPts val="2175"/>
              </a:lnSpc>
              <a:buFont typeface="Arial"/>
              <a:buChar char="•"/>
            </a:pPr>
            <a:r>
              <a:rPr lang="en-US" sz="1553" b="1" u="sng" spc="-7" dirty="0">
                <a:solidFill>
                  <a:srgbClr val="FFA5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family support</a:t>
            </a:r>
            <a:r>
              <a:rPr lang="en-US" sz="1553" b="1" spc="-7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: Parental involvement and support</a:t>
            </a:r>
          </a:p>
          <a:p>
            <a:pPr marL="335491" lvl="1" indent="-167746">
              <a:lnSpc>
                <a:spcPts val="2175"/>
              </a:lnSpc>
              <a:buFont typeface="Arial"/>
              <a:buChar char="•"/>
            </a:pPr>
            <a:r>
              <a:rPr lang="en-US" sz="1553" b="1" u="sng" spc="-7" dirty="0">
                <a:solidFill>
                  <a:srgbClr val="FFA5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internet access</a:t>
            </a:r>
            <a:r>
              <a:rPr lang="en-US" sz="1553" b="1" spc="-7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: Availability of internet at home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7705" y="220831"/>
            <a:ext cx="236190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1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87940" y="-1573587"/>
            <a:ext cx="4975870" cy="3147174"/>
          </a:xfrm>
          <a:custGeom>
            <a:avLst/>
            <a:gdLst/>
            <a:ahLst/>
            <a:cxnLst/>
            <a:rect l="l" t="t" r="r" b="b"/>
            <a:pathLst>
              <a:path w="4975870" h="3147174">
                <a:moveTo>
                  <a:pt x="0" y="0"/>
                </a:moveTo>
                <a:lnTo>
                  <a:pt x="4975870" y="0"/>
                </a:lnTo>
                <a:lnTo>
                  <a:pt x="4975870" y="3147174"/>
                </a:lnTo>
                <a:lnTo>
                  <a:pt x="0" y="3147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915400" y="5143500"/>
            <a:ext cx="5943600" cy="3429000"/>
            <a:chOff x="0" y="0"/>
            <a:chExt cx="5943600" cy="3429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71800" cy="1714500"/>
            </a:xfrm>
            <a:custGeom>
              <a:avLst/>
              <a:gdLst/>
              <a:ahLst/>
              <a:cxnLst/>
              <a:rect l="l" t="t" r="r" b="b"/>
              <a:pathLst>
                <a:path w="2971800" h="1714500">
                  <a:moveTo>
                    <a:pt x="0" y="0"/>
                  </a:moveTo>
                  <a:lnTo>
                    <a:pt x="0" y="1714500"/>
                  </a:lnTo>
                  <a:lnTo>
                    <a:pt x="2971800" y="171450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69B4">
                <a:alpha val="1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0736" y="369570"/>
            <a:ext cx="202406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1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72393" y="227965"/>
            <a:ext cx="4542414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u="sng" spc="-18" dirty="0">
                <a:solidFill>
                  <a:srgbClr val="030B5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 Preprocessing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380197"/>
            <a:ext cx="11930516" cy="4273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-12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499" u="sng" spc="-12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steps to prepare the data</a:t>
            </a:r>
            <a:r>
              <a:rPr lang="en-US" sz="2499" spc="-12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:</a:t>
            </a:r>
          </a:p>
          <a:p>
            <a:pPr algn="l">
              <a:lnSpc>
                <a:spcPts val="2386"/>
              </a:lnSpc>
            </a:pPr>
            <a:endParaRPr lang="en-US" sz="2499" spc="-12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368009" lvl="1" indent="-184004">
              <a:lnSpc>
                <a:spcPts val="2386"/>
              </a:lnSpc>
              <a:buFont typeface="Arial"/>
              <a:buChar char="•"/>
            </a:pPr>
            <a:r>
              <a:rPr lang="en-US" sz="1704" b="1" spc="-8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Missing Values</a:t>
            </a:r>
            <a:r>
              <a:rPr lang="en-US" sz="1704" b="1" spc="-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: The dataset was examined and found to have no significant missing values.</a:t>
            </a:r>
          </a:p>
          <a:p>
            <a:pPr algn="l">
              <a:lnSpc>
                <a:spcPts val="2386"/>
              </a:lnSpc>
            </a:pPr>
            <a:endParaRPr lang="en-US" sz="1704" b="1" spc="-8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68009" lvl="1" indent="-184004">
              <a:lnSpc>
                <a:spcPts val="2386"/>
              </a:lnSpc>
              <a:buFont typeface="Arial"/>
              <a:buChar char="•"/>
            </a:pPr>
            <a:r>
              <a:rPr lang="en-US" sz="1704" b="1" spc="-8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Removing Duplicates</a:t>
            </a:r>
            <a:r>
              <a:rPr lang="en-US" sz="1704" b="1" spc="-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: The data was checked for duplicates to ensure consistency. </a:t>
            </a:r>
          </a:p>
          <a:p>
            <a:pPr algn="l">
              <a:lnSpc>
                <a:spcPts val="2386"/>
              </a:lnSpc>
            </a:pPr>
            <a:endParaRPr lang="en-US" sz="1704" b="1" spc="-8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68009" lvl="1" indent="-184004">
              <a:lnSpc>
                <a:spcPts val="2386"/>
              </a:lnSpc>
              <a:buFont typeface="Arial"/>
              <a:buChar char="•"/>
            </a:pPr>
            <a:r>
              <a:rPr lang="en-US" sz="1704" b="1" spc="-8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Scaling</a:t>
            </a:r>
            <a:r>
              <a:rPr lang="en-US" sz="1704" b="1" spc="-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: Important features such as G1, G2, study time, and absences were selected for model training.</a:t>
            </a:r>
          </a:p>
          <a:p>
            <a:pPr marL="368009" lvl="1" indent="-184004">
              <a:lnSpc>
                <a:spcPts val="2386"/>
              </a:lnSpc>
              <a:buFont typeface="Arial"/>
              <a:buChar char="•"/>
            </a:pPr>
            <a:endParaRPr lang="en-US" sz="1704" b="1" spc="-8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24830" lvl="1" indent="-162415">
              <a:lnSpc>
                <a:spcPts val="2106"/>
              </a:lnSpc>
              <a:buFont typeface="Arial"/>
              <a:buChar char="•"/>
            </a:pPr>
            <a:r>
              <a:rPr lang="en-US" sz="1504" b="1" spc="-7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Preparation </a:t>
            </a:r>
            <a:r>
              <a:rPr lang="en-US" sz="1504" b="1" spc="-7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Numerical values were prepared directly for machine learning models without complex transformations. </a:t>
            </a:r>
          </a:p>
          <a:p>
            <a:pPr marL="162415" lvl="1">
              <a:lnSpc>
                <a:spcPts val="2106"/>
              </a:lnSpc>
            </a:pPr>
            <a:endParaRPr lang="en-US" sz="1504" b="1" spc="-7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24830" lvl="1" indent="-162415">
              <a:lnSpc>
                <a:spcPts val="2106"/>
              </a:lnSpc>
              <a:buFont typeface="Arial"/>
              <a:buChar char="•"/>
            </a:pPr>
            <a:r>
              <a:rPr lang="en-US" sz="1704" b="1" spc="-8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Train-Test Split </a:t>
            </a:r>
            <a:r>
              <a:rPr lang="en-US" sz="1704" b="1" spc="-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The dataset was split into training and testing sets to evaluate model performance fairly.</a:t>
            </a:r>
          </a:p>
          <a:p>
            <a:pPr algn="l">
              <a:lnSpc>
                <a:spcPts val="2386"/>
              </a:lnSpc>
            </a:pPr>
            <a:endParaRPr lang="en-US" sz="1704" b="1" spc="-8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66376" y="-2057400"/>
            <a:ext cx="4160520" cy="4114800"/>
          </a:xfrm>
          <a:custGeom>
            <a:avLst/>
            <a:gdLst/>
            <a:ahLst/>
            <a:cxnLst/>
            <a:rect l="l" t="t" r="r" b="b"/>
            <a:pathLst>
              <a:path w="4160520" h="4114800">
                <a:moveTo>
                  <a:pt x="0" y="0"/>
                </a:moveTo>
                <a:lnTo>
                  <a:pt x="4160520" y="0"/>
                </a:lnTo>
                <a:lnTo>
                  <a:pt x="41605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00348" y="38176"/>
            <a:ext cx="10761307" cy="1142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6"/>
              </a:lnSpc>
            </a:pPr>
            <a:r>
              <a:rPr lang="en-US" sz="2799" b="1" spc="-13">
                <a:solidFill>
                  <a:srgbClr val="3333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</a:t>
            </a:r>
          </a:p>
          <a:p>
            <a:pPr algn="l">
              <a:lnSpc>
                <a:spcPts val="4224"/>
              </a:lnSpc>
            </a:pPr>
            <a:endParaRPr lang="en-US" sz="2799" b="1" spc="-13">
              <a:solidFill>
                <a:srgbClr val="333333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783080" y="5143500"/>
            <a:ext cx="3566160" cy="3429000"/>
          </a:xfrm>
          <a:custGeom>
            <a:avLst/>
            <a:gdLst/>
            <a:ahLst/>
            <a:cxnLst/>
            <a:rect l="l" t="t" r="r" b="b"/>
            <a:pathLst>
              <a:path w="3566160" h="3429000">
                <a:moveTo>
                  <a:pt x="0" y="0"/>
                </a:moveTo>
                <a:lnTo>
                  <a:pt x="3566160" y="0"/>
                </a:lnTo>
                <a:lnTo>
                  <a:pt x="356616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590800" y="38176"/>
            <a:ext cx="6427887" cy="1898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u="sng" spc="-18" dirty="0">
                <a:solidFill>
                  <a:srgbClr val="030B5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Exploratory Data Analysis (EDA)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endParaRPr lang="en-US" sz="3600" u="sng" spc="-18" dirty="0">
              <a:solidFill>
                <a:srgbClr val="030B5C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6521" y="1376487"/>
            <a:ext cx="627087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u="sng" spc="-1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main characteristics and patterns :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6521" y="2362200"/>
            <a:ext cx="11167279" cy="3979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303" lvl="1" indent="-188652">
              <a:lnSpc>
                <a:spcPts val="2446"/>
              </a:lnSpc>
              <a:buFont typeface="Arial"/>
              <a:buChar char="•"/>
            </a:pPr>
            <a:r>
              <a:rPr lang="en-US" sz="1747" b="1" spc="-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 performed exploratory data analysis to understand the relationships between different features and student performance.</a:t>
            </a:r>
          </a:p>
          <a:p>
            <a:pPr marL="188651" lvl="1">
              <a:lnSpc>
                <a:spcPts val="2446"/>
              </a:lnSpc>
            </a:pPr>
            <a:endParaRPr lang="en-US" sz="1747" b="1" spc="-8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77303" lvl="1" indent="-188652">
              <a:lnSpc>
                <a:spcPts val="2446"/>
              </a:lnSpc>
              <a:buFont typeface="Arial"/>
              <a:buChar char="•"/>
            </a:pPr>
            <a:r>
              <a:rPr lang="en-US" sz="1747" b="1" spc="-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Calculated basic statistics for key features such as G1, G2, study time, and absences.</a:t>
            </a:r>
          </a:p>
          <a:p>
            <a:pPr marL="188651" lvl="1">
              <a:lnSpc>
                <a:spcPts val="2446"/>
              </a:lnSpc>
            </a:pPr>
            <a:endParaRPr lang="en-US" sz="1747" b="1" spc="-8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77303" lvl="1" indent="-188652">
              <a:lnSpc>
                <a:spcPts val="2446"/>
              </a:lnSpc>
              <a:buFont typeface="Arial"/>
              <a:buChar char="•"/>
            </a:pPr>
            <a:r>
              <a:rPr lang="en-US" sz="1747" b="1" spc="-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Used visualizations (histograms and scatter plots) to observe data distribution and patterns. </a:t>
            </a:r>
          </a:p>
          <a:p>
            <a:pPr marL="377303" lvl="1" indent="-188652">
              <a:lnSpc>
                <a:spcPts val="2446"/>
              </a:lnSpc>
              <a:buFont typeface="Arial"/>
              <a:buChar char="•"/>
            </a:pPr>
            <a:endParaRPr lang="en-US" sz="1747" b="1" spc="-8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77303" lvl="1" indent="-188652">
              <a:lnSpc>
                <a:spcPts val="2446"/>
              </a:lnSpc>
              <a:buFont typeface="Arial"/>
              <a:buChar char="•"/>
            </a:pPr>
            <a:r>
              <a:rPr lang="en-US" sz="1747" b="1" spc="-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Analyzed correlations between features and the final grade (G3).</a:t>
            </a:r>
          </a:p>
          <a:p>
            <a:pPr marL="188651" lvl="1">
              <a:lnSpc>
                <a:spcPts val="2446"/>
              </a:lnSpc>
            </a:pPr>
            <a:endParaRPr lang="en-US" sz="1747" b="1" spc="-8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77303" lvl="1" indent="-188652">
              <a:lnSpc>
                <a:spcPts val="2446"/>
              </a:lnSpc>
              <a:buFont typeface="Arial"/>
              <a:buChar char="•"/>
            </a:pPr>
            <a:r>
              <a:rPr lang="en-US" sz="1747" b="1" spc="-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Found that previous grades (G1 and G2) have the strongest influence on final performance</a:t>
            </a:r>
          </a:p>
          <a:p>
            <a:pPr marL="188651" lvl="1">
              <a:lnSpc>
                <a:spcPts val="2446"/>
              </a:lnSpc>
            </a:pPr>
            <a:endParaRPr lang="en-US" sz="1747" b="1" spc="-8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77303" lvl="1" indent="-188652">
              <a:lnSpc>
                <a:spcPts val="2446"/>
              </a:lnSpc>
              <a:buFont typeface="Arial"/>
              <a:buChar char="•"/>
            </a:pPr>
            <a:r>
              <a:rPr lang="en-US" sz="1747" b="1" spc="-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Observed that higher study time and lower absences are generally associated with better grades..</a:t>
            </a:r>
          </a:p>
          <a:p>
            <a:pPr algn="l">
              <a:lnSpc>
                <a:spcPts val="2446"/>
              </a:lnSpc>
            </a:pPr>
            <a:endParaRPr lang="en-US" sz="1747" b="1" spc="-8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87940" y="-1573587"/>
            <a:ext cx="4975870" cy="3147174"/>
          </a:xfrm>
          <a:custGeom>
            <a:avLst/>
            <a:gdLst/>
            <a:ahLst/>
            <a:cxnLst/>
            <a:rect l="l" t="t" r="r" b="b"/>
            <a:pathLst>
              <a:path w="4975870" h="3147174">
                <a:moveTo>
                  <a:pt x="0" y="0"/>
                </a:moveTo>
                <a:lnTo>
                  <a:pt x="4975870" y="0"/>
                </a:lnTo>
                <a:lnTo>
                  <a:pt x="4975870" y="3147174"/>
                </a:lnTo>
                <a:lnTo>
                  <a:pt x="0" y="3147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915400" y="5143500"/>
            <a:ext cx="5943600" cy="3429000"/>
            <a:chOff x="0" y="0"/>
            <a:chExt cx="5943600" cy="3429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71800" cy="1714500"/>
            </a:xfrm>
            <a:custGeom>
              <a:avLst/>
              <a:gdLst/>
              <a:ahLst/>
              <a:cxnLst/>
              <a:rect l="l" t="t" r="r" b="b"/>
              <a:pathLst>
                <a:path w="2971800" h="1714500">
                  <a:moveTo>
                    <a:pt x="0" y="0"/>
                  </a:moveTo>
                  <a:lnTo>
                    <a:pt x="0" y="1714500"/>
                  </a:lnTo>
                  <a:lnTo>
                    <a:pt x="2971800" y="171450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69B4">
                <a:alpha val="1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483154" y="225753"/>
            <a:ext cx="4920892" cy="119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5"/>
              </a:lnSpc>
            </a:pPr>
            <a:r>
              <a:rPr lang="en-US" sz="3432" spc="-17" dirty="0">
                <a:solidFill>
                  <a:srgbClr val="030B5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Modeling Approach</a:t>
            </a:r>
          </a:p>
          <a:p>
            <a:pPr algn="ctr">
              <a:lnSpc>
                <a:spcPts val="4805"/>
              </a:lnSpc>
            </a:pPr>
            <a:endParaRPr lang="en-US" sz="3432" spc="-17" dirty="0">
              <a:solidFill>
                <a:srgbClr val="030B5C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1007" y="2133601"/>
            <a:ext cx="11285193" cy="364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39456" lvl="1" indent="-169728">
              <a:lnSpc>
                <a:spcPts val="2201"/>
              </a:lnSpc>
              <a:buFont typeface="Arial"/>
              <a:buChar char="•"/>
            </a:pPr>
            <a:r>
              <a:rPr lang="en-US" sz="1572" b="1" spc="-7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</a:t>
            </a:r>
            <a:r>
              <a:rPr lang="en-US" sz="1572" b="1" u="sng" spc="-7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Selection</a:t>
            </a:r>
            <a:r>
              <a:rPr lang="en-US" sz="1572" b="1" spc="-7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We selected Linear Regression as the main machine learning algorithm to predict students’ final grades (G3), since the target variable is continuous. </a:t>
            </a:r>
          </a:p>
          <a:p>
            <a:pPr marL="169728" lvl="1">
              <a:lnSpc>
                <a:spcPts val="2201"/>
              </a:lnSpc>
            </a:pPr>
            <a:endParaRPr lang="en-US" sz="1572" b="1" spc="-7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169728" lvl="1">
              <a:lnSpc>
                <a:spcPts val="2201"/>
              </a:lnSpc>
            </a:pPr>
            <a:r>
              <a:rPr lang="en-US" sz="1572" b="1" spc="-7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</a:t>
            </a:r>
            <a:r>
              <a:rPr lang="en-US" sz="1572" b="1" u="sng" spc="-7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Selection</a:t>
            </a:r>
            <a:r>
              <a:rPr lang="en-US" sz="1572" b="1" spc="-7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: We used the most relevant academic features such as G1, G2, study time, and absences to train the model. </a:t>
            </a:r>
          </a:p>
          <a:p>
            <a:pPr marL="339456" lvl="1" indent="-169728">
              <a:lnSpc>
                <a:spcPts val="2201"/>
              </a:lnSpc>
              <a:buFont typeface="Arial"/>
              <a:buChar char="•"/>
            </a:pPr>
            <a:endParaRPr lang="en-US" sz="1572" b="1" spc="-7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9456" lvl="1" indent="-169728">
              <a:lnSpc>
                <a:spcPts val="2201"/>
              </a:lnSpc>
              <a:buFont typeface="Arial"/>
              <a:buChar char="•"/>
            </a:pPr>
            <a:r>
              <a:rPr lang="en-US" sz="1572" b="1" u="sng" spc="-7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Process </a:t>
            </a:r>
            <a:r>
              <a:rPr lang="en-US" sz="1572" b="1" spc="-7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The dataset was split into training and testing sets. The model was trained on the training data and tested on unseen data to evaluate performance. </a:t>
            </a:r>
          </a:p>
          <a:p>
            <a:pPr marL="169728" lvl="1">
              <a:lnSpc>
                <a:spcPts val="2201"/>
              </a:lnSpc>
            </a:pPr>
            <a:endParaRPr lang="en-US" sz="1572" b="1" spc="-7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9456" lvl="1" indent="-169728">
              <a:lnSpc>
                <a:spcPts val="2201"/>
              </a:lnSpc>
              <a:buFont typeface="Arial"/>
              <a:buChar char="•"/>
            </a:pPr>
            <a:r>
              <a:rPr lang="en-US" sz="1572" b="1" u="sng" spc="-7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Evaluation </a:t>
            </a:r>
            <a:r>
              <a:rPr lang="en-US" sz="1572" b="1" spc="-7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We evaluated the model using metrics such as Mean Squared Error (MSE) and R² Score to measure prediction accuracy.</a:t>
            </a:r>
          </a:p>
          <a:p>
            <a:pPr marL="169728" lvl="1">
              <a:lnSpc>
                <a:spcPts val="2201"/>
              </a:lnSpc>
            </a:pPr>
            <a:endParaRPr lang="en-US" sz="1572" b="1" spc="-7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9456" lvl="1" indent="-169728">
              <a:lnSpc>
                <a:spcPts val="2201"/>
              </a:lnSpc>
              <a:buFont typeface="Arial"/>
              <a:buChar char="•"/>
            </a:pPr>
            <a:r>
              <a:rPr lang="en-US" sz="1572" b="1" u="sng" spc="-7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 Model Selection</a:t>
            </a:r>
            <a:r>
              <a:rPr lang="en-US" sz="1572" b="1" spc="-7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: Linear Regression was chosen as a baseline model for predicting student performance.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717" y="1142670"/>
            <a:ext cx="3192425" cy="43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 b="1" spc="-12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534" b="1" spc="-12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These Main Steps</a:t>
            </a:r>
            <a:r>
              <a:rPr lang="en-US" sz="2534" b="1" spc="-12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1666" y="273050"/>
            <a:ext cx="188268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83080" y="5143500"/>
            <a:ext cx="3566160" cy="3429000"/>
          </a:xfrm>
          <a:custGeom>
            <a:avLst/>
            <a:gdLst/>
            <a:ahLst/>
            <a:cxnLst/>
            <a:rect l="l" t="t" r="r" b="b"/>
            <a:pathLst>
              <a:path w="3566160" h="3429000">
                <a:moveTo>
                  <a:pt x="0" y="0"/>
                </a:moveTo>
                <a:lnTo>
                  <a:pt x="3566160" y="0"/>
                </a:lnTo>
                <a:lnTo>
                  <a:pt x="356616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866376" y="-2057400"/>
            <a:ext cx="4160520" cy="4114800"/>
          </a:xfrm>
          <a:custGeom>
            <a:avLst/>
            <a:gdLst/>
            <a:ahLst/>
            <a:cxnLst/>
            <a:rect l="l" t="t" r="r" b="b"/>
            <a:pathLst>
              <a:path w="4160520" h="4114800">
                <a:moveTo>
                  <a:pt x="0" y="0"/>
                </a:moveTo>
                <a:lnTo>
                  <a:pt x="4160520" y="0"/>
                </a:lnTo>
                <a:lnTo>
                  <a:pt x="41605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82917" y="6134100"/>
            <a:ext cx="20288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5936" y="162585"/>
            <a:ext cx="3166616" cy="61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u="sng" spc="-18" dirty="0">
                <a:solidFill>
                  <a:srgbClr val="030B5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ML Model 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1491875"/>
            <a:ext cx="11125200" cy="3308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3823" lvl="1" indent="-196911">
              <a:lnSpc>
                <a:spcPts val="2553"/>
              </a:lnSpc>
              <a:buFont typeface="Arial"/>
              <a:buChar char="•"/>
            </a:pPr>
            <a:r>
              <a:rPr lang="en-US" sz="1824" b="1" u="sng" spc="-9" dirty="0">
                <a:solidFill>
                  <a:srgbClr val="FF31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this project </a:t>
            </a:r>
            <a:r>
              <a:rPr lang="en-US" sz="1824" b="1" spc="-9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, we focused on predicting student final grades (G3) using machine learning.</a:t>
            </a:r>
          </a:p>
          <a:p>
            <a:pPr algn="l">
              <a:lnSpc>
                <a:spcPts val="2553"/>
              </a:lnSpc>
            </a:pPr>
            <a:endParaRPr lang="en-US" sz="1824" b="1" spc="-9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93823" lvl="1" indent="-196911">
              <a:lnSpc>
                <a:spcPts val="2553"/>
              </a:lnSpc>
              <a:buFont typeface="Arial"/>
              <a:buChar char="•"/>
            </a:pPr>
            <a:r>
              <a:rPr lang="en-US" sz="1824" b="1" spc="-9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Linear Regression</a:t>
            </a:r>
            <a:r>
              <a:rPr lang="en-US" sz="1824" b="1" spc="-9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: We used Linear Regression as the main model because it is suitable for predicting continuous values such as student grades.</a:t>
            </a:r>
          </a:p>
          <a:p>
            <a:pPr marL="196912" lvl="1">
              <a:lnSpc>
                <a:spcPts val="2553"/>
              </a:lnSpc>
            </a:pPr>
            <a:endParaRPr lang="en-US" sz="1824" b="1" spc="-9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196912" lvl="1">
              <a:lnSpc>
                <a:spcPts val="2553"/>
              </a:lnSpc>
            </a:pPr>
            <a:r>
              <a:rPr lang="en-US" sz="1824" b="1" spc="-9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Evaluation </a:t>
            </a:r>
            <a:r>
              <a:rPr lang="en-US" sz="1824" b="1" spc="-9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The model was evaluated using Mean Squared Error (MSE) and R² Score to measure how well it predicts the final grade. </a:t>
            </a:r>
          </a:p>
          <a:p>
            <a:pPr marL="393823" lvl="1" indent="-196911">
              <a:lnSpc>
                <a:spcPts val="2553"/>
              </a:lnSpc>
              <a:buFont typeface="Arial"/>
              <a:buChar char="•"/>
            </a:pPr>
            <a:endParaRPr lang="en-US" sz="1824" b="1" spc="-9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93823" lvl="1" indent="-196911">
              <a:lnSpc>
                <a:spcPts val="2553"/>
              </a:lnSpc>
              <a:buFont typeface="Arial"/>
              <a:buChar char="•"/>
            </a:pPr>
            <a:r>
              <a:rPr lang="en-US" sz="1824" b="1" spc="-9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 Approach </a:t>
            </a:r>
            <a:r>
              <a:rPr lang="en-US" sz="1824" b="1" spc="-9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Linear Regression was selected as a baseline model for student performance prediction due to its simplicity and interpretability.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83080" y="5153834"/>
            <a:ext cx="3566160" cy="3429000"/>
          </a:xfrm>
          <a:custGeom>
            <a:avLst/>
            <a:gdLst/>
            <a:ahLst/>
            <a:cxnLst/>
            <a:rect l="l" t="t" r="r" b="b"/>
            <a:pathLst>
              <a:path w="3566160" h="3429000">
                <a:moveTo>
                  <a:pt x="0" y="0"/>
                </a:moveTo>
                <a:lnTo>
                  <a:pt x="3566160" y="0"/>
                </a:lnTo>
                <a:lnTo>
                  <a:pt x="356616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913804" y="-2057400"/>
            <a:ext cx="4160520" cy="4114800"/>
          </a:xfrm>
          <a:custGeom>
            <a:avLst/>
            <a:gdLst/>
            <a:ahLst/>
            <a:cxnLst/>
            <a:rect l="l" t="t" r="r" b="b"/>
            <a:pathLst>
              <a:path w="4160520" h="4114800">
                <a:moveTo>
                  <a:pt x="0" y="0"/>
                </a:moveTo>
                <a:lnTo>
                  <a:pt x="4160520" y="0"/>
                </a:lnTo>
                <a:lnTo>
                  <a:pt x="41605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773602" y="244475"/>
            <a:ext cx="4760798" cy="613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u="sng" spc="-18" dirty="0">
                <a:solidFill>
                  <a:srgbClr val="030B5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Results &amp; Evaluation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8168" y="1030673"/>
            <a:ext cx="11669032" cy="551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1586" lvl="1" indent="-210793" algn="l">
              <a:lnSpc>
                <a:spcPts val="2733"/>
              </a:lnSpc>
              <a:buFont typeface="Arial"/>
              <a:buChar char="•"/>
            </a:pPr>
            <a:r>
              <a:rPr lang="en-US" sz="1952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 </a:t>
            </a:r>
            <a:r>
              <a:rPr lang="en-US" sz="1952" b="1" spc="-9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evaluated </a:t>
            </a:r>
            <a:r>
              <a:rPr lang="en-US" sz="1952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models using standard regression metrics :</a:t>
            </a:r>
          </a:p>
          <a:p>
            <a:pPr algn="l">
              <a:lnSpc>
                <a:spcPts val="2733"/>
              </a:lnSpc>
            </a:pPr>
            <a:endParaRPr lang="en-US" sz="1952" b="1" spc="-9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21586" lvl="1" indent="-210793">
              <a:lnSpc>
                <a:spcPts val="2733"/>
              </a:lnSpc>
              <a:buFont typeface="Arial"/>
              <a:buChar char="•"/>
            </a:pPr>
            <a:r>
              <a:rPr lang="en-US" sz="1952" b="1" spc="-9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Mean Squared Error (MSE) </a:t>
            </a:r>
            <a:r>
              <a:rPr lang="en-US" sz="1952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Measures the average squared difference between predicted and actual gradesR² Score: Indicates how well the model explains the variation in student performance</a:t>
            </a:r>
          </a:p>
          <a:p>
            <a:pPr marL="421586" lvl="1" indent="-210793">
              <a:lnSpc>
                <a:spcPts val="2733"/>
              </a:lnSpc>
              <a:buFont typeface="Arial"/>
              <a:buChar char="•"/>
            </a:pPr>
            <a:endParaRPr lang="en-US" sz="1952" b="1" u="sng" spc="-9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21586" lvl="1" indent="-210793">
              <a:lnSpc>
                <a:spcPts val="2733"/>
              </a:lnSpc>
              <a:buFont typeface="Arial"/>
              <a:buChar char="•"/>
            </a:pPr>
            <a:r>
              <a:rPr lang="en-US" sz="1952" b="1" spc="-9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Performance </a:t>
            </a:r>
            <a:r>
              <a:rPr lang="en-US" sz="1952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The model achieved good performance in predicting students’ final </a:t>
            </a:r>
            <a:r>
              <a:rPr lang="en-US" sz="1952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gradesIt</a:t>
            </a:r>
            <a:r>
              <a:rPr lang="en-US" sz="1952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was able to capture the general trend between input features and G3</a:t>
            </a:r>
          </a:p>
          <a:p>
            <a:pPr marL="421586" lvl="1" indent="-210793">
              <a:lnSpc>
                <a:spcPts val="2733"/>
              </a:lnSpc>
              <a:buFont typeface="Arial"/>
              <a:buChar char="•"/>
            </a:pPr>
            <a:endParaRPr lang="en-US" sz="1952" b="1" spc="-9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21586" lvl="1" indent="-210793">
              <a:lnSpc>
                <a:spcPts val="2733"/>
              </a:lnSpc>
              <a:buFont typeface="Arial"/>
              <a:buChar char="•"/>
            </a:pPr>
            <a:r>
              <a:rPr lang="en-US" sz="1952" b="1" spc="-9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 </a:t>
            </a:r>
            <a:r>
              <a:rPr lang="en-US" sz="1952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Previous grades (G1 and G2) were the most influential </a:t>
            </a:r>
            <a:r>
              <a:rPr lang="en-US" sz="1952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factorsStudents</a:t>
            </a:r>
            <a:r>
              <a:rPr lang="en-US" sz="1952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with consistent past performance were easier to </a:t>
            </a:r>
            <a:r>
              <a:rPr lang="en-US" sz="1952" b="1" spc="-9" dirty="0" err="1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predictSome</a:t>
            </a:r>
            <a:r>
              <a:rPr lang="en-US" sz="1952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variation remains due to factors not captured in the dataset</a:t>
            </a:r>
          </a:p>
          <a:p>
            <a:pPr marL="210793" lvl="1">
              <a:lnSpc>
                <a:spcPts val="2733"/>
              </a:lnSpc>
            </a:pPr>
            <a:endParaRPr lang="en-US" sz="1952" b="1" u="sng" spc="-9" dirty="0">
              <a:solidFill>
                <a:srgbClr val="030B5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21586" lvl="1" indent="-210793">
              <a:lnSpc>
                <a:spcPts val="2733"/>
              </a:lnSpc>
              <a:buFont typeface="Arial"/>
              <a:buChar char="•"/>
            </a:pPr>
            <a:r>
              <a:rPr lang="en-US" sz="1952" b="1" u="sng" spc="-9" dirty="0">
                <a:solidFill>
                  <a:srgbClr val="6495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  <a:r>
              <a:rPr lang="en-US" sz="1952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  <a:p>
            <a:pPr>
              <a:lnSpc>
                <a:spcPts val="2733"/>
              </a:lnSpc>
            </a:pPr>
            <a:r>
              <a:rPr lang="en-US" sz="1952" b="1" spc="-9" dirty="0">
                <a:solidFill>
                  <a:srgbClr val="030B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Machine learning can provide useful predictions for student performance, but results can be improved by adding more features or using more advanced models.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983" y="6350915"/>
            <a:ext cx="194370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45088" y="5206822"/>
            <a:ext cx="3434449" cy="3302355"/>
          </a:xfrm>
          <a:custGeom>
            <a:avLst/>
            <a:gdLst/>
            <a:ahLst/>
            <a:cxnLst/>
            <a:rect l="l" t="t" r="r" b="b"/>
            <a:pathLst>
              <a:path w="3434449" h="3302355">
                <a:moveTo>
                  <a:pt x="0" y="0"/>
                </a:moveTo>
                <a:lnTo>
                  <a:pt x="3434449" y="0"/>
                </a:lnTo>
                <a:lnTo>
                  <a:pt x="3434449" y="3302356"/>
                </a:lnTo>
                <a:lnTo>
                  <a:pt x="0" y="3302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97841" y="-2316804"/>
            <a:ext cx="3988459" cy="3944630"/>
          </a:xfrm>
          <a:custGeom>
            <a:avLst/>
            <a:gdLst/>
            <a:ahLst/>
            <a:cxnLst/>
            <a:rect l="l" t="t" r="r" b="b"/>
            <a:pathLst>
              <a:path w="3988459" h="3944630">
                <a:moveTo>
                  <a:pt x="0" y="0"/>
                </a:moveTo>
                <a:lnTo>
                  <a:pt x="3988459" y="0"/>
                </a:lnTo>
                <a:lnTo>
                  <a:pt x="3988459" y="3944630"/>
                </a:lnTo>
                <a:lnTo>
                  <a:pt x="0" y="3944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96803" y="5573787"/>
            <a:ext cx="326082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21030" y="225464"/>
            <a:ext cx="3720875" cy="64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0"/>
              </a:lnSpc>
            </a:pPr>
            <a:r>
              <a:rPr lang="en-US" sz="3735" spc="-18">
                <a:solidFill>
                  <a:srgbClr val="6495E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Diagram (1)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7F38B3-09BB-4721-24DF-B4695657D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143000"/>
            <a:ext cx="8229600" cy="49623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83080" y="5143500"/>
            <a:ext cx="3566160" cy="3429000"/>
          </a:xfrm>
          <a:custGeom>
            <a:avLst/>
            <a:gdLst/>
            <a:ahLst/>
            <a:cxnLst/>
            <a:rect l="l" t="t" r="r" b="b"/>
            <a:pathLst>
              <a:path w="3566160" h="3429000">
                <a:moveTo>
                  <a:pt x="0" y="0"/>
                </a:moveTo>
                <a:lnTo>
                  <a:pt x="3566160" y="0"/>
                </a:lnTo>
                <a:lnTo>
                  <a:pt x="356616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866376" y="-2057400"/>
            <a:ext cx="4160520" cy="4114800"/>
          </a:xfrm>
          <a:custGeom>
            <a:avLst/>
            <a:gdLst/>
            <a:ahLst/>
            <a:cxnLst/>
            <a:rect l="l" t="t" r="r" b="b"/>
            <a:pathLst>
              <a:path w="4160520" h="4114800">
                <a:moveTo>
                  <a:pt x="0" y="0"/>
                </a:moveTo>
                <a:lnTo>
                  <a:pt x="4160520" y="0"/>
                </a:lnTo>
                <a:lnTo>
                  <a:pt x="41605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57154" y="6134100"/>
            <a:ext cx="326082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44342" y="42213"/>
            <a:ext cx="3720875" cy="64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0"/>
              </a:lnSpc>
            </a:pPr>
            <a:r>
              <a:rPr lang="en-US" sz="3735" spc="-18">
                <a:solidFill>
                  <a:srgbClr val="6495E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Diagram (2)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BF36BD-3320-E3E1-4DC4-5075C9D46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176" y="1066800"/>
            <a:ext cx="8077200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83080" y="5143500"/>
            <a:ext cx="3566160" cy="3429000"/>
          </a:xfrm>
          <a:custGeom>
            <a:avLst/>
            <a:gdLst/>
            <a:ahLst/>
            <a:cxnLst/>
            <a:rect l="l" t="t" r="r" b="b"/>
            <a:pathLst>
              <a:path w="3566160" h="3429000">
                <a:moveTo>
                  <a:pt x="0" y="0"/>
                </a:moveTo>
                <a:lnTo>
                  <a:pt x="3566160" y="0"/>
                </a:lnTo>
                <a:lnTo>
                  <a:pt x="356616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866376" y="-2057400"/>
            <a:ext cx="4160520" cy="4114800"/>
          </a:xfrm>
          <a:custGeom>
            <a:avLst/>
            <a:gdLst/>
            <a:ahLst/>
            <a:cxnLst/>
            <a:rect l="l" t="t" r="r" b="b"/>
            <a:pathLst>
              <a:path w="4160520" h="4114800">
                <a:moveTo>
                  <a:pt x="0" y="0"/>
                </a:moveTo>
                <a:lnTo>
                  <a:pt x="4160520" y="0"/>
                </a:lnTo>
                <a:lnTo>
                  <a:pt x="41605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22759" y="6034310"/>
            <a:ext cx="326082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44342" y="42213"/>
            <a:ext cx="3720875" cy="64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0"/>
              </a:lnSpc>
            </a:pPr>
            <a:r>
              <a:rPr lang="en-US" sz="3735" spc="-18">
                <a:solidFill>
                  <a:srgbClr val="6495E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Diagram (3)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7E0C25-AA43-905A-5B9B-596C2643E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1118144"/>
            <a:ext cx="8418576" cy="46217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83080" y="5143500"/>
            <a:ext cx="3566160" cy="3429000"/>
          </a:xfrm>
          <a:custGeom>
            <a:avLst/>
            <a:gdLst/>
            <a:ahLst/>
            <a:cxnLst/>
            <a:rect l="l" t="t" r="r" b="b"/>
            <a:pathLst>
              <a:path w="3566160" h="3429000">
                <a:moveTo>
                  <a:pt x="0" y="0"/>
                </a:moveTo>
                <a:lnTo>
                  <a:pt x="3566160" y="0"/>
                </a:lnTo>
                <a:lnTo>
                  <a:pt x="356616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866376" y="-2057400"/>
            <a:ext cx="4160520" cy="4114800"/>
          </a:xfrm>
          <a:custGeom>
            <a:avLst/>
            <a:gdLst/>
            <a:ahLst/>
            <a:cxnLst/>
            <a:rect l="l" t="t" r="r" b="b"/>
            <a:pathLst>
              <a:path w="4160520" h="4114800">
                <a:moveTo>
                  <a:pt x="0" y="0"/>
                </a:moveTo>
                <a:lnTo>
                  <a:pt x="4160520" y="0"/>
                </a:lnTo>
                <a:lnTo>
                  <a:pt x="41605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22759" y="5890081"/>
            <a:ext cx="326082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44342" y="42213"/>
            <a:ext cx="3720875" cy="64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0"/>
              </a:lnSpc>
            </a:pPr>
            <a:r>
              <a:rPr lang="en-US" sz="3735" spc="-18">
                <a:solidFill>
                  <a:srgbClr val="6495E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Diagram (4)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599414-4979-05E9-8F06-3C480AE32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1139100"/>
            <a:ext cx="7391400" cy="45797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79589" y="5143500"/>
            <a:ext cx="3566160" cy="3429000"/>
          </a:xfrm>
          <a:custGeom>
            <a:avLst/>
            <a:gdLst/>
            <a:ahLst/>
            <a:cxnLst/>
            <a:rect l="l" t="t" r="r" b="b"/>
            <a:pathLst>
              <a:path w="3566160" h="3429000">
                <a:moveTo>
                  <a:pt x="0" y="0"/>
                </a:moveTo>
                <a:lnTo>
                  <a:pt x="3566160" y="0"/>
                </a:lnTo>
                <a:lnTo>
                  <a:pt x="356616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331169" y="-2266083"/>
            <a:ext cx="4160520" cy="4114800"/>
          </a:xfrm>
          <a:custGeom>
            <a:avLst/>
            <a:gdLst/>
            <a:ahLst/>
            <a:cxnLst/>
            <a:rect l="l" t="t" r="r" b="b"/>
            <a:pathLst>
              <a:path w="4160520" h="4114800">
                <a:moveTo>
                  <a:pt x="0" y="0"/>
                </a:moveTo>
                <a:lnTo>
                  <a:pt x="4160520" y="0"/>
                </a:lnTo>
                <a:lnTo>
                  <a:pt x="41605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22759" y="5946775"/>
            <a:ext cx="326082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04794" y="-76200"/>
            <a:ext cx="3720875" cy="64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0"/>
              </a:lnSpc>
            </a:pPr>
            <a:r>
              <a:rPr lang="en-US" sz="3735" spc="-18">
                <a:solidFill>
                  <a:srgbClr val="6495E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Diagram (5)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FB6A64-672F-85E7-351C-AD7AF64D6A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762000"/>
            <a:ext cx="9296400" cy="58205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87940" y="-1573587"/>
            <a:ext cx="4975870" cy="3147174"/>
          </a:xfrm>
          <a:custGeom>
            <a:avLst/>
            <a:gdLst/>
            <a:ahLst/>
            <a:cxnLst/>
            <a:rect l="l" t="t" r="r" b="b"/>
            <a:pathLst>
              <a:path w="4975870" h="3147174">
                <a:moveTo>
                  <a:pt x="0" y="0"/>
                </a:moveTo>
                <a:lnTo>
                  <a:pt x="4975870" y="0"/>
                </a:lnTo>
                <a:lnTo>
                  <a:pt x="4975870" y="3147174"/>
                </a:lnTo>
                <a:lnTo>
                  <a:pt x="0" y="3147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915400" y="5143500"/>
            <a:ext cx="5943600" cy="3429000"/>
            <a:chOff x="0" y="0"/>
            <a:chExt cx="5943600" cy="3429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71800" cy="1714500"/>
            </a:xfrm>
            <a:custGeom>
              <a:avLst/>
              <a:gdLst/>
              <a:ahLst/>
              <a:cxnLst/>
              <a:rect l="l" t="t" r="r" b="b"/>
              <a:pathLst>
                <a:path w="2971800" h="1714500">
                  <a:moveTo>
                    <a:pt x="0" y="0"/>
                  </a:moveTo>
                  <a:lnTo>
                    <a:pt x="0" y="1714500"/>
                  </a:lnTo>
                  <a:lnTo>
                    <a:pt x="2971800" y="171450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69B4">
                <a:alpha val="1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8657317" y="5094227"/>
            <a:ext cx="3229883" cy="2155947"/>
          </a:xfrm>
          <a:custGeom>
            <a:avLst/>
            <a:gdLst/>
            <a:ahLst/>
            <a:cxnLst/>
            <a:rect l="l" t="t" r="r" b="b"/>
            <a:pathLst>
              <a:path w="3229883" h="2155947">
                <a:moveTo>
                  <a:pt x="0" y="0"/>
                </a:moveTo>
                <a:lnTo>
                  <a:pt x="3229883" y="0"/>
                </a:lnTo>
                <a:lnTo>
                  <a:pt x="3229883" y="2155946"/>
                </a:lnTo>
                <a:lnTo>
                  <a:pt x="0" y="2155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764578" y="1665814"/>
            <a:ext cx="3906098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-24">
                <a:solidFill>
                  <a:srgbClr val="33333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Thank You!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53582" y="2973495"/>
            <a:ext cx="4128091" cy="1287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3" b="1" spc="-12" dirty="0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 Dr. </a:t>
            </a:r>
            <a:r>
              <a:rPr lang="en-US" sz="2413" b="1" spc="-12" dirty="0" err="1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mohamed</a:t>
            </a:r>
            <a:r>
              <a:rPr lang="en-US" sz="2413" b="1" spc="-12" dirty="0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413" b="1" spc="-12" dirty="0" err="1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zedaan</a:t>
            </a:r>
            <a:endParaRPr lang="en-US" sz="2413" b="1" spc="-12" dirty="0">
              <a:solidFill>
                <a:srgbClr val="333333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3379"/>
              </a:lnSpc>
            </a:pPr>
            <a:r>
              <a:rPr lang="en-US" sz="2413" b="1" spc="-12" dirty="0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&amp;</a:t>
            </a:r>
          </a:p>
          <a:p>
            <a:pPr algn="ctr">
              <a:lnSpc>
                <a:spcPts val="3379"/>
              </a:lnSpc>
            </a:pPr>
            <a:r>
              <a:rPr lang="en-US" sz="2413" b="1" spc="-12" dirty="0" err="1">
                <a:solidFill>
                  <a:srgbClr val="333333"/>
                </a:solidFill>
                <a:latin typeface="DM Sans Bold"/>
                <a:ea typeface="DM Sans Bold"/>
                <a:cs typeface="DM Sans Bold"/>
                <a:sym typeface="DM Sans Bold"/>
              </a:rPr>
              <a:t>Eng.khalil</a:t>
            </a:r>
            <a:endParaRPr lang="en-US" sz="2413" b="1" spc="-12" dirty="0">
              <a:solidFill>
                <a:srgbClr val="333333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1007</Words>
  <Application>Microsoft Office PowerPoint</Application>
  <PresentationFormat>Custom</PresentationFormat>
  <Paragraphs>142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DM Serif Display</vt:lpstr>
      <vt:lpstr>Calibri</vt:lpstr>
      <vt:lpstr>Arial</vt:lpstr>
      <vt:lpstr>DM Sans Bold</vt:lpstr>
      <vt:lpstr>Montserrat Bold</vt:lpstr>
      <vt:lpstr>Playfair Display Bold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generated_1734630134227.pdf</dc:title>
  <dc:creator>Omar</dc:creator>
  <cp:lastModifiedBy>Omar Saleh Abdel Zaher Mohammed</cp:lastModifiedBy>
  <cp:revision>7</cp:revision>
  <dcterms:created xsi:type="dcterms:W3CDTF">2006-08-16T00:00:00Z</dcterms:created>
  <dcterms:modified xsi:type="dcterms:W3CDTF">2026-05-03T19:22:51Z</dcterms:modified>
  <dc:identifier>DAGZwjMoW9U</dc:identifier>
</cp:coreProperties>
</file>